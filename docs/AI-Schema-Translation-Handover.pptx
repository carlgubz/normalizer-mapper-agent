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8368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194560"/>
            <a:ext cx="5943600" cy="5943600"/>
          </a:xfrm>
          <a:prstGeom prst="ellipse">
            <a:avLst/>
          </a:prstGeom>
          <a:solidFill>
            <a:srgbClr val="141A3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" name="Shape 1"/>
          <p:cNvSpPr/>
          <p:nvPr/>
        </p:nvSpPr>
        <p:spPr>
          <a:xfrm>
            <a:off x="-2011680" y="4572000"/>
            <a:ext cx="4754880" cy="4754880"/>
          </a:xfrm>
          <a:prstGeom prst="ellipse">
            <a:avLst/>
          </a:prstGeom>
          <a:solidFill>
            <a:srgbClr val="141A3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HANDOVER OVERVIEW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Fleet Maintenance</a:t>
            </a:r>
            <a:endParaRPr lang="en-US" sz="4600" dirty="0"/>
          </a:p>
          <a:p>
            <a:pPr marL="0" indent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Pipeline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361188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three AI agents turn messy customer spreadsheets into a validated, trustworthy dataset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4526280"/>
            <a:ext cx="3063240" cy="868680"/>
          </a:xfrm>
          <a:prstGeom prst="roundRect">
            <a:avLst>
              <a:gd name="adj" fmla="val 9474"/>
            </a:avLst>
          </a:prstGeom>
          <a:solidFill>
            <a:srgbClr val="141A3D"/>
          </a:solidFill>
          <a:ln w="12700">
            <a:solidFill>
              <a:srgbClr val="39428C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8" name="Shape 6"/>
          <p:cNvSpPr/>
          <p:nvPr/>
        </p:nvSpPr>
        <p:spPr>
          <a:xfrm>
            <a:off x="987552" y="4695444"/>
            <a:ext cx="530352" cy="530352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9" name="Text 7"/>
          <p:cNvSpPr/>
          <p:nvPr/>
        </p:nvSpPr>
        <p:spPr>
          <a:xfrm>
            <a:off x="987552" y="4672584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609344" y="4526280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→ CSV Converter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895344" y="4663440"/>
            <a:ext cx="2468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142232" y="4526280"/>
            <a:ext cx="3063240" cy="868680"/>
          </a:xfrm>
          <a:prstGeom prst="roundRect">
            <a:avLst>
              <a:gd name="adj" fmla="val 9474"/>
            </a:avLst>
          </a:prstGeom>
          <a:solidFill>
            <a:srgbClr val="141A3D"/>
          </a:solidFill>
          <a:ln w="12700">
            <a:solidFill>
              <a:srgbClr val="39428C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3" name="Shape 11"/>
          <p:cNvSpPr/>
          <p:nvPr/>
        </p:nvSpPr>
        <p:spPr>
          <a:xfrm>
            <a:off x="4306824" y="4695444"/>
            <a:ext cx="530352" cy="530352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4" name="Text 12"/>
          <p:cNvSpPr/>
          <p:nvPr/>
        </p:nvSpPr>
        <p:spPr>
          <a:xfrm>
            <a:off x="4306824" y="4672584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928616" y="4526280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Normalizer / Schema-Mapper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214616" y="4663440"/>
            <a:ext cx="2468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7461504" y="4526280"/>
            <a:ext cx="3063240" cy="868680"/>
          </a:xfrm>
          <a:prstGeom prst="roundRect">
            <a:avLst>
              <a:gd name="adj" fmla="val 9474"/>
            </a:avLst>
          </a:prstGeom>
          <a:solidFill>
            <a:srgbClr val="141A3D"/>
          </a:solidFill>
          <a:ln w="12700">
            <a:solidFill>
              <a:srgbClr val="39428C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8" name="Shape 16"/>
          <p:cNvSpPr/>
          <p:nvPr/>
        </p:nvSpPr>
        <p:spPr>
          <a:xfrm>
            <a:off x="7626096" y="4695444"/>
            <a:ext cx="530352" cy="530352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9" name="Text 17"/>
          <p:cNvSpPr/>
          <p:nvPr/>
        </p:nvSpPr>
        <p:spPr>
          <a:xfrm>
            <a:off x="7626096" y="4672584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247888" y="4526280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Enrichment Validator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2960" y="6172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Carlos Gubat IV</a:t>
            </a:r>
            <a:r>
              <a:rPr lang="en-US" sz="1200" dirty="0">
                <a:solidFill>
                  <a:srgbClr val="54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|     </a:t>
            </a:r>
            <a:r>
              <a:rPr lang="en-US" sz="1200" dirty="0">
                <a:solidFill>
                  <a:srgbClr val="9AA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23,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CONTEXT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778240" y="651052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7B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DATA PIPELINE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this pipeline existed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dealer processes maintenance and equipment-history spreadsheets from mining customers — FMG, Rio Tinto, BHP, Thiess, Macmahon, MACA — every month. Turning each one into clean, trusted data was slow and manual.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148840"/>
            <a:ext cx="5440680" cy="1783080"/>
          </a:xfrm>
          <a:prstGeom prst="roundRect">
            <a:avLst>
              <a:gd name="adj" fmla="val 4103"/>
            </a:avLst>
          </a:prstGeom>
          <a:solidFill>
            <a:srgbClr val="EEF3FD"/>
          </a:solidFill>
          <a:ln/>
          <a:effectLst>
            <a:outerShdw blurRad="76200" dist="25400" dir="5400000" algn="bl" rotWithShape="0">
              <a:srgbClr val="3A4570">
                <a:alpha val="18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7" name="Shape 5"/>
          <p:cNvSpPr/>
          <p:nvPr/>
        </p:nvSpPr>
        <p:spPr>
          <a:xfrm>
            <a:off x="731520" y="2423160"/>
            <a:ext cx="402336" cy="402336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8" name="Text 6"/>
          <p:cNvSpPr/>
          <p:nvPr/>
        </p:nvSpPr>
        <p:spPr>
          <a:xfrm>
            <a:off x="731520" y="24048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80160" y="2368296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two customers match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80160" y="2752344"/>
            <a:ext cx="4343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customer uses its own sheet names, column headers, and file layout — mapping was done by hand, file by file.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63640" y="2148840"/>
            <a:ext cx="5440680" cy="1783080"/>
          </a:xfrm>
          <a:prstGeom prst="roundRect">
            <a:avLst>
              <a:gd name="adj" fmla="val 4103"/>
            </a:avLst>
          </a:prstGeom>
          <a:solidFill>
            <a:srgbClr val="EEF3FD"/>
          </a:solidFill>
          <a:ln/>
          <a:effectLst>
            <a:outerShdw blurRad="76200" dist="25400" dir="5400000" algn="bl" rotWithShape="0">
              <a:srgbClr val="3A4570">
                <a:alpha val="18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12" name="Shape 10"/>
          <p:cNvSpPr/>
          <p:nvPr/>
        </p:nvSpPr>
        <p:spPr>
          <a:xfrm>
            <a:off x="6537960" y="2423160"/>
            <a:ext cx="402336" cy="402336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3" name="Text 11"/>
          <p:cNvSpPr/>
          <p:nvPr/>
        </p:nvSpPr>
        <p:spPr>
          <a:xfrm>
            <a:off x="6537960" y="24048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086600" y="2368296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data is messy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086600" y="2752344"/>
            <a:ext cx="4343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Banner rows, blanks, duplicate task revisions, and components with no usable identity slip through unnoticed.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4251960"/>
            <a:ext cx="5440680" cy="1783080"/>
          </a:xfrm>
          <a:prstGeom prst="roundRect">
            <a:avLst>
              <a:gd name="adj" fmla="val 4103"/>
            </a:avLst>
          </a:prstGeom>
          <a:solidFill>
            <a:srgbClr val="EEF3FD"/>
          </a:solidFill>
          <a:ln/>
          <a:effectLst>
            <a:outerShdw blurRad="76200" dist="25400" dir="5400000" algn="bl" rotWithShape="0">
              <a:srgbClr val="3A4570">
                <a:alpha val="18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17" name="Shape 15"/>
          <p:cNvSpPr/>
          <p:nvPr/>
        </p:nvSpPr>
        <p:spPr>
          <a:xfrm>
            <a:off x="731520" y="4526280"/>
            <a:ext cx="402336" cy="402336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8" name="Text 16"/>
          <p:cNvSpPr/>
          <p:nvPr/>
        </p:nvSpPr>
        <p:spPr>
          <a:xfrm>
            <a:off x="731520" y="45079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80160" y="4471416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Enrichment could fail silently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80160" y="4855464"/>
            <a:ext cx="4343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Joining against the dealer's master data could produce a half-filled or implausible row — with nothing systematically checking it.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263640" y="4251960"/>
            <a:ext cx="5440680" cy="1783080"/>
          </a:xfrm>
          <a:prstGeom prst="roundRect">
            <a:avLst>
              <a:gd name="adj" fmla="val 4103"/>
            </a:avLst>
          </a:prstGeom>
          <a:solidFill>
            <a:srgbClr val="EEF3FD"/>
          </a:solidFill>
          <a:ln/>
          <a:effectLst>
            <a:outerShdw blurRad="76200" dist="25400" dir="5400000" algn="bl" rotWithShape="0">
              <a:srgbClr val="3A4570">
                <a:alpha val="18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22" name="Shape 20"/>
          <p:cNvSpPr/>
          <p:nvPr/>
        </p:nvSpPr>
        <p:spPr>
          <a:xfrm>
            <a:off x="6537960" y="4526280"/>
            <a:ext cx="402336" cy="402336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23" name="Text 21"/>
          <p:cNvSpPr/>
          <p:nvPr/>
        </p:nvSpPr>
        <p:spPr>
          <a:xfrm>
            <a:off x="6537960" y="45079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086600" y="4471416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took engineering time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086600" y="4855464"/>
            <a:ext cx="4343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new customer used to mean writing new code, not just new configuration.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17500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7B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778240" y="651052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7B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DATA PIPELINE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agents, one pipeline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is a small, focused Azure AI Foundry agent. None of them talk to each other directly — each reads its input from cloud storage and writes its output back, and Azure Logic Apps decides when to call the next one.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3611880" cy="3703320"/>
          </a:xfrm>
          <a:prstGeom prst="roundRect">
            <a:avLst>
              <a:gd name="adj" fmla="val 2025"/>
            </a:avLst>
          </a:prstGeom>
          <a:solidFill>
            <a:srgbClr val="EEF3FD"/>
          </a:solidFill>
          <a:ln/>
          <a:effectLst>
            <a:outerShdw blurRad="76200" dist="25400" dir="5400000" algn="bl" rotWithShape="0">
              <a:srgbClr val="3A4570">
                <a:alpha val="18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7" name="Shape 5"/>
          <p:cNvSpPr/>
          <p:nvPr/>
        </p:nvSpPr>
        <p:spPr>
          <a:xfrm>
            <a:off x="749808" y="239572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8" name="Text 6"/>
          <p:cNvSpPr/>
          <p:nvPr/>
        </p:nvSpPr>
        <p:spPr>
          <a:xfrm>
            <a:off x="749808" y="23774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49808" y="3108960"/>
            <a:ext cx="30266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excel-csv-converter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49808" y="3886200"/>
            <a:ext cx="3026664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a multi-tab Excel workbook into one clean CSV per sheet. Simple, fast, no AI involved.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270248" y="2103120"/>
            <a:ext cx="3611880" cy="3703320"/>
          </a:xfrm>
          <a:prstGeom prst="roundRect">
            <a:avLst>
              <a:gd name="adj" fmla="val 2025"/>
            </a:avLst>
          </a:prstGeom>
          <a:solidFill>
            <a:srgbClr val="CADCFC"/>
          </a:solidFill>
          <a:ln/>
          <a:effectLst>
            <a:outerShdw blurRad="76200" dist="25400" dir="5400000" algn="bl" rotWithShape="0">
              <a:srgbClr val="3A4570">
                <a:alpha val="18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12" name="Shape 10"/>
          <p:cNvSpPr/>
          <p:nvPr/>
        </p:nvSpPr>
        <p:spPr>
          <a:xfrm>
            <a:off x="4562856" y="239572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3" name="Text 11"/>
          <p:cNvSpPr/>
          <p:nvPr/>
        </p:nvSpPr>
        <p:spPr>
          <a:xfrm>
            <a:off x="4562856" y="23774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562856" y="3108960"/>
            <a:ext cx="30266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normalizer-mapper-agent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62856" y="3886200"/>
            <a:ext cx="3026664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core. Cleans messy rows and uses AI to work out which customer column maps to which standard field.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083296" y="2103120"/>
            <a:ext cx="3611880" cy="3703320"/>
          </a:xfrm>
          <a:prstGeom prst="roundRect">
            <a:avLst>
              <a:gd name="adj" fmla="val 2025"/>
            </a:avLst>
          </a:prstGeom>
          <a:solidFill>
            <a:srgbClr val="EEF3FD"/>
          </a:solidFill>
          <a:ln/>
          <a:effectLst>
            <a:outerShdw blurRad="76200" dist="25400" dir="5400000" algn="bl" rotWithShape="0">
              <a:srgbClr val="3A4570">
                <a:alpha val="18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17" name="Shape 15"/>
          <p:cNvSpPr/>
          <p:nvPr/>
        </p:nvSpPr>
        <p:spPr>
          <a:xfrm>
            <a:off x="8375904" y="239572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8" name="Text 16"/>
          <p:cNvSpPr/>
          <p:nvPr/>
        </p:nvSpPr>
        <p:spPr>
          <a:xfrm>
            <a:off x="8375904" y="23774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375904" y="3108960"/>
            <a:ext cx="30266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enrichment-validator-agent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375904" y="3886200"/>
            <a:ext cx="3026664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quality gate. Checks enriched data against 28 business rules and an AI judgment layer before it's trusted.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17500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7B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FITS TOGETHER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778240" y="651052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7B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DATA PIPELINE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data flow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EEF3F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2148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30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.xlsx file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88920" y="2345436"/>
            <a:ext cx="384048" cy="292608"/>
          </a:xfrm>
          <a:prstGeom prst="chevron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8" name="Shape 6"/>
          <p:cNvSpPr/>
          <p:nvPr/>
        </p:nvSpPr>
        <p:spPr>
          <a:xfrm>
            <a:off x="3172968" y="196596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9" name="Text 7"/>
          <p:cNvSpPr/>
          <p:nvPr/>
        </p:nvSpPr>
        <p:spPr>
          <a:xfrm>
            <a:off x="3264408" y="1965960"/>
            <a:ext cx="2148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1</a:t>
            </a:r>
            <a:endParaRPr lang="en-US" sz="130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into CSVs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504688" y="2345436"/>
            <a:ext cx="384048" cy="292608"/>
          </a:xfrm>
          <a:prstGeom prst="chevron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1" name="Shape 9"/>
          <p:cNvSpPr/>
          <p:nvPr/>
        </p:nvSpPr>
        <p:spPr>
          <a:xfrm>
            <a:off x="5888736" y="196596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2" name="Text 10"/>
          <p:cNvSpPr/>
          <p:nvPr/>
        </p:nvSpPr>
        <p:spPr>
          <a:xfrm>
            <a:off x="5980176" y="1965960"/>
            <a:ext cx="2148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2</a:t>
            </a:r>
            <a:endParaRPr lang="en-US" sz="130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+ map to</a:t>
            </a:r>
            <a:endParaRPr lang="en-US" sz="130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 / LAO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 rot="5400000">
            <a:off x="5760720" y="3035808"/>
            <a:ext cx="457200" cy="384048"/>
          </a:xfrm>
          <a:prstGeom prst="rightArrow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4" name="Shape 12"/>
          <p:cNvSpPr/>
          <p:nvPr/>
        </p:nvSpPr>
        <p:spPr>
          <a:xfrm>
            <a:off x="2148840" y="3520440"/>
            <a:ext cx="7863840" cy="960120"/>
          </a:xfrm>
          <a:prstGeom prst="roundRect">
            <a:avLst>
              <a:gd name="adj" fmla="val 7619"/>
            </a:avLst>
          </a:prstGeom>
          <a:solidFill>
            <a:srgbClr val="FBEAEA"/>
          </a:solidFill>
          <a:ln w="19050">
            <a:solidFill>
              <a:srgbClr val="C0392B"/>
            </a:solidFill>
            <a:prstDash val="dash"/>
          </a:ln>
        </p:spPr>
        <p:txBody>
          <a:bodyPr/>
          <a:lstStyle/>
          <a:p>
            <a:endParaRPr lang="en-PH"/>
          </a:p>
        </p:txBody>
      </p:sp>
      <p:sp>
        <p:nvSpPr>
          <p:cNvPr id="15" name="Text 13"/>
          <p:cNvSpPr/>
          <p:nvPr/>
        </p:nvSpPr>
        <p:spPr>
          <a:xfrm>
            <a:off x="2377440" y="3520440"/>
            <a:ext cx="7406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STEP — NOT PART OF THESE THREE REPOS
</a:t>
            </a:r>
            <a:r>
              <a:rPr lang="en-US" sz="1150" dirty="0">
                <a:solidFill>
                  <a:srgbClr val="7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NEO/LAO output is joined against the dealer's AMT / Snowflake master data to fill in every remaining field. That logic lives outside this codebase — see the handover document, §4.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 rot="5400000">
            <a:off x="5760720" y="4507992"/>
            <a:ext cx="457200" cy="365760"/>
          </a:xfrm>
          <a:prstGeom prst="rightArrow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7" name="Shape 15"/>
          <p:cNvSpPr/>
          <p:nvPr/>
        </p:nvSpPr>
        <p:spPr>
          <a:xfrm>
            <a:off x="3063240" y="4983480"/>
            <a:ext cx="6035040" cy="960120"/>
          </a:xfrm>
          <a:prstGeom prst="roundRect">
            <a:avLst>
              <a:gd name="adj" fmla="val 7619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8" name="Text 16"/>
          <p:cNvSpPr/>
          <p:nvPr/>
        </p:nvSpPr>
        <p:spPr>
          <a:xfrm>
            <a:off x="3246120" y="4983480"/>
            <a:ext cx="5669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3 — Validate enrichment against 28 business rules + AI review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7200" y="612648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AUTO_APPROVED  ·  NEEDS_REVIEW  ·  REJECTED — routed onward automatically or to a human reviewer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7500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7B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1 OF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778240" y="651052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7B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DATA PIPELINE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502920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5" name="Text 3"/>
          <p:cNvSpPr/>
          <p:nvPr/>
        </p:nvSpPr>
        <p:spPr>
          <a:xfrm>
            <a:off x="457200" y="48463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80160" y="50292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excel-csv-converter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280160" y="9601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sheet in a workbook → one clean CSV out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600200"/>
            <a:ext cx="6766560" cy="4160520"/>
          </a:xfrm>
          <a:prstGeom prst="roundRect">
            <a:avLst>
              <a:gd name="adj" fmla="val 1758"/>
            </a:avLst>
          </a:prstGeom>
          <a:solidFill>
            <a:srgbClr val="EEF3FD"/>
          </a:solidFill>
          <a:ln/>
          <a:effectLst>
            <a:outerShdw blurRad="76200" dist="25400" dir="5400000" algn="bl" rotWithShape="0">
              <a:srgbClr val="3A4570">
                <a:alpha val="18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9" name="Text 7"/>
          <p:cNvSpPr/>
          <p:nvPr/>
        </p:nvSpPr>
        <p:spPr>
          <a:xfrm>
            <a:off x="777240" y="182880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7240" y="2240280"/>
            <a:ext cx="62179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ts val="17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202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 filename already sitting in cloud storage, downloads the Excel workbook.</a:t>
            </a:r>
            <a:endParaRPr lang="en-US" sz="1300" dirty="0"/>
          </a:p>
          <a:p>
            <a:pPr marL="228600" indent="-228600">
              <a:lnSpc>
                <a:spcPts val="17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202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every sheet into its own CSV file — a 3-sheet workbook makes 3 CSVs.</a:t>
            </a:r>
            <a:endParaRPr lang="en-US" sz="1300" dirty="0"/>
          </a:p>
          <a:p>
            <a:pPr marL="228600" indent="-228600">
              <a:lnSpc>
                <a:spcPts val="17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202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Uploads each CSV back to storage and reports exactly what it wrote.</a:t>
            </a:r>
            <a:endParaRPr lang="en-US" sz="1300" dirty="0"/>
          </a:p>
          <a:p>
            <a:pPr marL="228600" indent="-228600">
              <a:lnSpc>
                <a:spcPts val="17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202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Purely mechanical — no AI model, so it's fast, cheap, and fully predictable.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7240" y="4069080"/>
            <a:ext cx="6217920" cy="0"/>
          </a:xfrm>
          <a:prstGeom prst="line">
            <a:avLst/>
          </a:prstGeom>
          <a:noFill/>
          <a:ln w="12700">
            <a:solidFill>
              <a:srgbClr val="D8E0F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2" name="Text 10"/>
          <p:cNvSpPr/>
          <p:nvPr/>
        </p:nvSpPr>
        <p:spPr>
          <a:xfrm>
            <a:off x="777240" y="420624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a separate, tiny agent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77240" y="4572000"/>
            <a:ext cx="6217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202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downstream steps want standalone CSVs rather than a multi-tab workbook. Keeping this as its own agent means any future consumer can reuse it without depending on the AI-heavy mapping logic in Agent 2.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498080" y="1600200"/>
            <a:ext cx="4206240" cy="4160520"/>
          </a:xfrm>
          <a:prstGeom prst="roundRect">
            <a:avLst>
              <a:gd name="adj" fmla="val 1758"/>
            </a:avLst>
          </a:prstGeom>
          <a:solidFill>
            <a:srgbClr val="CADCFC"/>
          </a:solidFill>
          <a:ln/>
          <a:effectLst>
            <a:outerShdw blurRad="76200" dist="25400" dir="5400000" algn="bl" rotWithShape="0">
              <a:srgbClr val="3A4570">
                <a:alpha val="18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15" name="Text 13"/>
          <p:cNvSpPr/>
          <p:nvPr/>
        </p:nvSpPr>
        <p:spPr>
          <a:xfrm>
            <a:off x="7818120" y="18288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818120" y="228600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818120" y="2542032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Foundry Hosted Agent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818120" y="294436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818120" y="320040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Logic Apps (HTTP)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818120" y="360273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involved?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818120" y="3858768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deterministic only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818120" y="426110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818120" y="4517136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filename in Blob Storage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818120" y="491947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818120" y="5175504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CSV per sheet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7500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7B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2 OF 3 — THE CORE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778240" y="651052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7B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DATA PIPELINE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502920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5" name="Text 3"/>
          <p:cNvSpPr/>
          <p:nvPr/>
        </p:nvSpPr>
        <p:spPr>
          <a:xfrm>
            <a:off x="457200" y="48463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80160" y="50292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normalizer-mapper-agent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280160" y="9601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Cleans the data, then uses AI to map it onto the dealer's standard schema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600200"/>
            <a:ext cx="5532120" cy="4160520"/>
          </a:xfrm>
          <a:prstGeom prst="roundRect">
            <a:avLst>
              <a:gd name="adj" fmla="val 1758"/>
            </a:avLst>
          </a:prstGeom>
          <a:solidFill>
            <a:srgbClr val="EEF3FD"/>
          </a:solidFill>
          <a:ln/>
          <a:effectLst>
            <a:outerShdw blurRad="76200" dist="25400" dir="5400000" algn="bl" rotWithShape="0">
              <a:srgbClr val="3A4570">
                <a:alpha val="18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9" name="Text 7"/>
          <p:cNvSpPr/>
          <p:nvPr/>
        </p:nvSpPr>
        <p:spPr>
          <a:xfrm>
            <a:off x="731520" y="1801368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2167128"/>
            <a:ext cx="49834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ts val="1600"/>
              </a:lnSpc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202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out which sheet is which, even though every customer names them differently.</a:t>
            </a:r>
            <a:endParaRPr lang="en-US" sz="1250" dirty="0"/>
          </a:p>
          <a:p>
            <a:pPr marL="228600" indent="-228600">
              <a:lnSpc>
                <a:spcPts val="1600"/>
              </a:lnSpc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202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how confidently each customer column matches a standard field, then asks an AI model to resolve the unclear ones.</a:t>
            </a:r>
            <a:endParaRPr lang="en-US" sz="1250" dirty="0"/>
          </a:p>
          <a:p>
            <a:pPr marL="228600" indent="-228600">
              <a:lnSpc>
                <a:spcPts val="1600"/>
              </a:lnSpc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202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the dealer's standard NEO.csv / LAO.csv outputs.</a:t>
            </a:r>
            <a:endParaRPr lang="en-US" sz="1250" dirty="0"/>
          </a:p>
          <a:p>
            <a:pPr marL="228600" indent="-228600">
              <a:lnSpc>
                <a:spcPts val="1600"/>
              </a:lnSpc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202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invents a value — anything it can't determine is left blank and clearly labelled.</a:t>
            </a:r>
            <a:endParaRPr lang="en-US" sz="1250" dirty="0"/>
          </a:p>
          <a:p>
            <a:pPr marL="228600" indent="-228600">
              <a:lnSpc>
                <a:spcPts val="1600"/>
              </a:lnSpc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202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row it removes or flags is written to its own companion file with a reason — nothing disappears silently.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63640" y="1600200"/>
            <a:ext cx="5669280" cy="4160520"/>
          </a:xfrm>
          <a:prstGeom prst="roundRect">
            <a:avLst>
              <a:gd name="adj" fmla="val 1758"/>
            </a:avLst>
          </a:prstGeom>
          <a:solidFill>
            <a:srgbClr val="CADCFC"/>
          </a:solidFill>
          <a:ln/>
          <a:effectLst>
            <a:outerShdw blurRad="76200" dist="25400" dir="5400000" algn="bl" rotWithShape="0">
              <a:srgbClr val="3A4570">
                <a:alpha val="18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12" name="Text 10"/>
          <p:cNvSpPr/>
          <p:nvPr/>
        </p:nvSpPr>
        <p:spPr>
          <a:xfrm>
            <a:off x="6537960" y="1801368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smart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37960" y="2167128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ts val="1600"/>
              </a:lnSpc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202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New-customer onboarding needs a config file, not new code.</a:t>
            </a:r>
            <a:endParaRPr lang="en-US" sz="1250" dirty="0"/>
          </a:p>
          <a:p>
            <a:pPr marL="228600" indent="-228600">
              <a:lnSpc>
                <a:spcPts val="1600"/>
              </a:lnSpc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202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merge several site workbooks into one combined run automatically.</a:t>
            </a:r>
            <a:endParaRPr lang="en-US" sz="1250" dirty="0"/>
          </a:p>
          <a:p>
            <a:pPr marL="228600" indent="-228600">
              <a:lnSpc>
                <a:spcPts val="1600"/>
              </a:lnSpc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202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Fills key identity fields from a deterministic lookup table where it safely can — never a guess.</a:t>
            </a:r>
            <a:endParaRPr lang="en-US" sz="1250" dirty="0"/>
          </a:p>
          <a:p>
            <a:pPr marL="228600" indent="-228600">
              <a:lnSpc>
                <a:spcPts val="1600"/>
              </a:lnSpc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202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row carries its own confidence score, not just an overall average.</a:t>
            </a:r>
            <a:endParaRPr lang="en-US" sz="1250" dirty="0"/>
          </a:p>
          <a:p>
            <a:pPr marL="228600" indent="-228600">
              <a:lnSpc>
                <a:spcPts val="1600"/>
              </a:lnSpc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202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fully offline (no AI key needed) for testing — the deterministic path always still works.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17500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7B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3 OF 3 — THE QUALITY GATE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778240" y="651052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7B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DATA PIPELINE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502920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5" name="Text 3"/>
          <p:cNvSpPr/>
          <p:nvPr/>
        </p:nvSpPr>
        <p:spPr>
          <a:xfrm>
            <a:off x="457200" y="48463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80160" y="50292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enrichment-validator-agent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280160" y="9601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that the fully-enriched data is correct before anyone trusts it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600200"/>
            <a:ext cx="6766560" cy="4160520"/>
          </a:xfrm>
          <a:prstGeom prst="roundRect">
            <a:avLst>
              <a:gd name="adj" fmla="val 1758"/>
            </a:avLst>
          </a:prstGeom>
          <a:solidFill>
            <a:srgbClr val="EEF3FD"/>
          </a:solidFill>
          <a:ln/>
          <a:effectLst>
            <a:outerShdw blurRad="76200" dist="25400" dir="5400000" algn="bl" rotWithShape="0">
              <a:srgbClr val="3A4570">
                <a:alpha val="18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9" name="Text 7"/>
          <p:cNvSpPr/>
          <p:nvPr/>
        </p:nvSpPr>
        <p:spPr>
          <a:xfrm>
            <a:off x="777240" y="182880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7240" y="2240280"/>
            <a:ext cx="62179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ts val="17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202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28 business rules — reverse-engineered from real, already-enriched reference data, not generic boilerplate.</a:t>
            </a:r>
            <a:endParaRPr lang="en-US" sz="1300" dirty="0"/>
          </a:p>
          <a:p>
            <a:pPr marL="228600" indent="-228600">
              <a:lnSpc>
                <a:spcPts val="17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202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completeness, valid value ranges, format patterns, and cross-field logic (e.g. a purchase order number should only exist if a sale is confirmed).</a:t>
            </a:r>
            <a:endParaRPr lang="en-US" sz="1300" dirty="0"/>
          </a:p>
          <a:p>
            <a:pPr marL="228600" indent="-228600">
              <a:lnSpc>
                <a:spcPts val="17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202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an AI layer for judgment calls a fixed rule can't make — does this part number actually make sense here?</a:t>
            </a:r>
            <a:endParaRPr lang="en-US" sz="1300" dirty="0"/>
          </a:p>
          <a:p>
            <a:pPr marL="228600" indent="-228600">
              <a:lnSpc>
                <a:spcPts val="17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202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fixes or invents a value — it only evaluates and explains.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7240" y="4526280"/>
            <a:ext cx="6217920" cy="0"/>
          </a:xfrm>
          <a:prstGeom prst="line">
            <a:avLst/>
          </a:prstGeom>
          <a:noFill/>
          <a:ln w="12700">
            <a:solidFill>
              <a:srgbClr val="D8E0F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2" name="Text 10"/>
          <p:cNvSpPr/>
          <p:nvPr/>
        </p:nvSpPr>
        <p:spPr>
          <a:xfrm>
            <a:off x="777240" y="466344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row gets a verdict: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498080" y="1600200"/>
            <a:ext cx="4206240" cy="4160520"/>
          </a:xfrm>
          <a:prstGeom prst="roundRect">
            <a:avLst>
              <a:gd name="adj" fmla="val 1758"/>
            </a:avLst>
          </a:prstGeom>
          <a:solidFill>
            <a:srgbClr val="CADCFC"/>
          </a:solidFill>
          <a:ln/>
          <a:effectLst>
            <a:outerShdw blurRad="76200" dist="25400" dir="5400000" algn="bl" rotWithShape="0">
              <a:srgbClr val="3A4570">
                <a:alpha val="18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14" name="Text 12"/>
          <p:cNvSpPr/>
          <p:nvPr/>
        </p:nvSpPr>
        <p:spPr>
          <a:xfrm>
            <a:off x="7818120" y="182880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against real data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818120" y="242316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it on known-good enriched data auto-approves 99.99–100% of rows; running it on un-enriched data correctly rejects ~100%.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7500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7B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77240" y="5074920"/>
            <a:ext cx="1691640" cy="365760"/>
          </a:xfrm>
          <a:prstGeom prst="roundRect">
            <a:avLst>
              <a:gd name="adj" fmla="val 50000"/>
            </a:avLst>
          </a:prstGeom>
          <a:solidFill>
            <a:srgbClr val="078C4E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8" name="Text 16"/>
          <p:cNvSpPr/>
          <p:nvPr/>
        </p:nvSpPr>
        <p:spPr>
          <a:xfrm>
            <a:off x="777240" y="507492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AUTO_APPROVED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606040" y="50749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02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≥ 0.85 — flows straight through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77240" y="5532120"/>
            <a:ext cx="1691640" cy="365760"/>
          </a:xfrm>
          <a:prstGeom prst="roundRect">
            <a:avLst>
              <a:gd name="adj" fmla="val 50000"/>
            </a:avLst>
          </a:prstGeom>
          <a:solidFill>
            <a:srgbClr val="C77A11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21" name="Text 19"/>
          <p:cNvSpPr/>
          <p:nvPr/>
        </p:nvSpPr>
        <p:spPr>
          <a:xfrm>
            <a:off x="777240" y="553212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NEEDS_REVIEW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606040" y="55321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02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0.60–0.849 — a person takes a look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77240" y="5989320"/>
            <a:ext cx="1691640" cy="36576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24" name="Text 22"/>
          <p:cNvSpPr/>
          <p:nvPr/>
        </p:nvSpPr>
        <p:spPr>
          <a:xfrm>
            <a:off x="777240" y="598932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606040" y="59893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02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0.60, or 2+ critical issues — sent back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STATUS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778240" y="651052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7B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DATA PIPELINE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Customers onboarded today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a new customer only touches Agent 2 — Agents 1 and 3 already work for any customer's data.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11247120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7" name="Text 5"/>
          <p:cNvSpPr/>
          <p:nvPr/>
        </p:nvSpPr>
        <p:spPr>
          <a:xfrm>
            <a:off x="685800" y="2103120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26280" y="2103120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46920" y="210312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606040"/>
            <a:ext cx="11247120" cy="841248"/>
          </a:xfrm>
          <a:prstGeom prst="rect">
            <a:avLst/>
          </a:prstGeom>
          <a:solidFill>
            <a:srgbClr val="EEF3F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1" name="Text 9"/>
          <p:cNvSpPr/>
          <p:nvPr/>
        </p:nvSpPr>
        <p:spPr>
          <a:xfrm>
            <a:off x="685800" y="2606040"/>
            <a:ext cx="36118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FMG / Rio Tinto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26280" y="2606040"/>
            <a:ext cx="48920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profile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555480" y="2843784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078C4E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4" name="Text 12"/>
          <p:cNvSpPr/>
          <p:nvPr/>
        </p:nvSpPr>
        <p:spPr>
          <a:xfrm>
            <a:off x="9555480" y="2843784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verified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447288"/>
            <a:ext cx="11247120" cy="8412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6" name="Text 14"/>
          <p:cNvSpPr/>
          <p:nvPr/>
        </p:nvSpPr>
        <p:spPr>
          <a:xfrm>
            <a:off x="685800" y="3447288"/>
            <a:ext cx="36118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Thiess (+ MACA rows)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26280" y="3447288"/>
            <a:ext cx="48920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Shares a workbook with MACA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9555480" y="3685032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078C4E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9" name="Text 17"/>
          <p:cNvSpPr/>
          <p:nvPr/>
        </p:nvSpPr>
        <p:spPr>
          <a:xfrm>
            <a:off x="9555480" y="368503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verified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4288536"/>
            <a:ext cx="11247120" cy="841248"/>
          </a:xfrm>
          <a:prstGeom prst="rect">
            <a:avLst/>
          </a:prstGeom>
          <a:solidFill>
            <a:srgbClr val="EEF3F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21" name="Text 19"/>
          <p:cNvSpPr/>
          <p:nvPr/>
        </p:nvSpPr>
        <p:spPr>
          <a:xfrm>
            <a:off x="685800" y="4288536"/>
            <a:ext cx="36118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Macmahon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26280" y="4288536"/>
            <a:ext cx="48920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workbook shape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9555480" y="452628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078C4E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24" name="Text 22"/>
          <p:cNvSpPr/>
          <p:nvPr/>
        </p:nvSpPr>
        <p:spPr>
          <a:xfrm>
            <a:off x="9555480" y="45262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verified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5129784"/>
            <a:ext cx="11247120" cy="8412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26" name="Text 24"/>
          <p:cNvSpPr/>
          <p:nvPr/>
        </p:nvSpPr>
        <p:spPr>
          <a:xfrm>
            <a:off x="685800" y="5129784"/>
            <a:ext cx="36118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MACA (standalone)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26280" y="5129784"/>
            <a:ext cx="48920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source file yet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9555480" y="5367528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C77A11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29" name="Text 27"/>
          <p:cNvSpPr/>
          <p:nvPr/>
        </p:nvSpPr>
        <p:spPr>
          <a:xfrm>
            <a:off x="9555480" y="536752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Scaffolded only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17500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7B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778240" y="651052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7B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DATA PIPELINE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&amp; deployment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5440680" cy="1874520"/>
          </a:xfrm>
          <a:prstGeom prst="roundRect">
            <a:avLst>
              <a:gd name="adj" fmla="val 3902"/>
            </a:avLst>
          </a:prstGeom>
          <a:solidFill>
            <a:srgbClr val="EEF3FD"/>
          </a:solidFill>
          <a:ln/>
          <a:effectLst>
            <a:outerShdw blurRad="76200" dist="25400" dir="5400000" algn="bl" rotWithShape="0">
              <a:srgbClr val="3A4570">
                <a:alpha val="18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6" name="Shape 4"/>
          <p:cNvSpPr/>
          <p:nvPr/>
        </p:nvSpPr>
        <p:spPr>
          <a:xfrm>
            <a:off x="731520" y="185623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7" name="Text 5"/>
          <p:cNvSpPr/>
          <p:nvPr/>
        </p:nvSpPr>
        <p:spPr>
          <a:xfrm>
            <a:off x="731520" y="18379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1801368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Azure AI Foundry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31520" y="2377440"/>
            <a:ext cx="4892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agents run as “Hosted Agents” — Microsoft-managed containers that scale to zero when idle. No servers to babysit.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63640" y="1600200"/>
            <a:ext cx="5440680" cy="1874520"/>
          </a:xfrm>
          <a:prstGeom prst="roundRect">
            <a:avLst>
              <a:gd name="adj" fmla="val 3902"/>
            </a:avLst>
          </a:prstGeom>
          <a:solidFill>
            <a:srgbClr val="EEF3FD"/>
          </a:solidFill>
          <a:ln/>
          <a:effectLst>
            <a:outerShdw blurRad="76200" dist="25400" dir="5400000" algn="bl" rotWithShape="0">
              <a:srgbClr val="3A4570">
                <a:alpha val="18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11" name="Shape 9"/>
          <p:cNvSpPr/>
          <p:nvPr/>
        </p:nvSpPr>
        <p:spPr>
          <a:xfrm>
            <a:off x="6537960" y="185623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2" name="Text 10"/>
          <p:cNvSpPr/>
          <p:nvPr/>
        </p:nvSpPr>
        <p:spPr>
          <a:xfrm>
            <a:off x="6537960" y="18379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178040" y="1801368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Blob Storage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537960" y="2377440"/>
            <a:ext cx="4892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hand-off medium between every step. Agents never call each other directly — they read and write files to shared cloud storage.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794760"/>
            <a:ext cx="5440680" cy="1874520"/>
          </a:xfrm>
          <a:prstGeom prst="roundRect">
            <a:avLst>
              <a:gd name="adj" fmla="val 3902"/>
            </a:avLst>
          </a:prstGeom>
          <a:solidFill>
            <a:srgbClr val="EEF3FD"/>
          </a:solidFill>
          <a:ln/>
          <a:effectLst>
            <a:outerShdw blurRad="76200" dist="25400" dir="5400000" algn="bl" rotWithShape="0">
              <a:srgbClr val="3A4570">
                <a:alpha val="18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16" name="Shape 14"/>
          <p:cNvSpPr/>
          <p:nvPr/>
        </p:nvSpPr>
        <p:spPr>
          <a:xfrm>
            <a:off x="731520" y="405079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7" name="Text 15"/>
          <p:cNvSpPr/>
          <p:nvPr/>
        </p:nvSpPr>
        <p:spPr>
          <a:xfrm>
            <a:off x="731520" y="40325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71600" y="3995928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Logic Apps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731520" y="4572000"/>
            <a:ext cx="4892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Watches for new files and decides when to call the next agent, using each agent's own managed identity for security.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63640" y="3794760"/>
            <a:ext cx="5440680" cy="1874520"/>
          </a:xfrm>
          <a:prstGeom prst="roundRect">
            <a:avLst>
              <a:gd name="adj" fmla="val 3902"/>
            </a:avLst>
          </a:prstGeom>
          <a:solidFill>
            <a:srgbClr val="EEF3FD"/>
          </a:solidFill>
          <a:ln/>
          <a:effectLst>
            <a:outerShdw blurRad="76200" dist="25400" dir="5400000" algn="bl" rotWithShape="0">
              <a:srgbClr val="3A4570">
                <a:alpha val="18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21" name="Shape 19"/>
          <p:cNvSpPr/>
          <p:nvPr/>
        </p:nvSpPr>
        <p:spPr>
          <a:xfrm>
            <a:off x="6537960" y="405079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22" name="Text 20"/>
          <p:cNvSpPr/>
          <p:nvPr/>
        </p:nvSpPr>
        <p:spPr>
          <a:xfrm>
            <a:off x="6537960" y="40325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178040" y="3995928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Developer CLI (azd)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537960" y="4572000"/>
            <a:ext cx="4892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standard tool for deploying and updating all three agents — one consistent command sequence across all of them.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7500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7B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NEXT DEVELOPER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778240" y="651052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7B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DATA PIPELINE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Known gaps &amp; next steps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440680" cy="1783080"/>
          </a:xfrm>
          <a:prstGeom prst="roundRect">
            <a:avLst>
              <a:gd name="adj" fmla="val 4103"/>
            </a:avLst>
          </a:prstGeom>
          <a:solidFill>
            <a:srgbClr val="FBEAEA"/>
          </a:solidFill>
          <a:ln w="12700">
            <a:solidFill>
              <a:srgbClr val="F2C6C1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4892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Snowflake enrichment step isn't in these repos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377440"/>
            <a:ext cx="4892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out where that logic actually lives — it's the biggest documentation gap in the whole pipeline.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0" y="1554480"/>
            <a:ext cx="5440680" cy="1783080"/>
          </a:xfrm>
          <a:prstGeom prst="roundRect">
            <a:avLst>
              <a:gd name="adj" fmla="val 4103"/>
            </a:avLst>
          </a:prstGeom>
          <a:solidFill>
            <a:srgbClr val="FBEAEA"/>
          </a:solidFill>
          <a:ln w="12700">
            <a:solidFill>
              <a:srgbClr val="F2C6C1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9" name="Text 7"/>
          <p:cNvSpPr/>
          <p:nvPr/>
        </p:nvSpPr>
        <p:spPr>
          <a:xfrm>
            <a:off x="6537960" y="1737360"/>
            <a:ext cx="4892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3 has no automated test suite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37960" y="2377440"/>
            <a:ext cx="4892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it's checked by eyeballing results against sample files. Build real tests before changing its rules again.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630168"/>
            <a:ext cx="5440680" cy="1783080"/>
          </a:xfrm>
          <a:prstGeom prst="roundRect">
            <a:avLst>
              <a:gd name="adj" fmla="val 4103"/>
            </a:avLst>
          </a:prstGeom>
          <a:solidFill>
            <a:srgbClr val="FBEAEA"/>
          </a:solidFill>
          <a:ln w="12700">
            <a:solidFill>
              <a:srgbClr val="F2C6C1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2" name="Text 10"/>
          <p:cNvSpPr/>
          <p:nvPr/>
        </p:nvSpPr>
        <p:spPr>
          <a:xfrm>
            <a:off x="731520" y="3813048"/>
            <a:ext cx="4892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MACA has no live data yet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4453128"/>
            <a:ext cx="4892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config is scaffolded but deliberately not wired up — don't guess the join logic before a real file arrives.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63640" y="3630168"/>
            <a:ext cx="5440680" cy="1783080"/>
          </a:xfrm>
          <a:prstGeom prst="roundRect">
            <a:avLst>
              <a:gd name="adj" fmla="val 4103"/>
            </a:avLst>
          </a:prstGeom>
          <a:solidFill>
            <a:srgbClr val="FBEAEA"/>
          </a:solidFill>
          <a:ln w="12700">
            <a:solidFill>
              <a:srgbClr val="F2C6C1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5" name="Text 13"/>
          <p:cNvSpPr/>
          <p:nvPr/>
        </p:nvSpPr>
        <p:spPr>
          <a:xfrm>
            <a:off x="6537960" y="3813048"/>
            <a:ext cx="4892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data is a CSV snapshot, not live Snowflake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37960" y="4453128"/>
            <a:ext cx="4892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extension path is documented and small, but not yet built — stale data could hide a real issue.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7500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7B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DEEPER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778240" y="651052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7B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DATA PIPELINE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to learn more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11247120" cy="1234440"/>
          </a:xfrm>
          <a:prstGeom prst="roundRect">
            <a:avLst>
              <a:gd name="adj" fmla="val 5926"/>
            </a:avLst>
          </a:prstGeom>
          <a:solidFill>
            <a:srgbClr val="CADCFC"/>
          </a:solidFill>
          <a:ln/>
          <a:effectLst>
            <a:outerShdw blurRad="76200" dist="25400" dir="5400000" algn="bl" rotWithShape="0">
              <a:srgbClr val="3A4570">
                <a:alpha val="18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6" name="Text 4"/>
          <p:cNvSpPr/>
          <p:nvPr/>
        </p:nvSpPr>
        <p:spPr>
          <a:xfrm>
            <a:off x="777240" y="173736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technical handover document (Word)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103120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agent's architecture, request/response contracts, configuration, deployment runbook, glossary, and the complete list of open risks — read this before touching any code.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30632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EEF3FD"/>
          </a:solidFill>
          <a:ln/>
          <a:effectLst>
            <a:outerShdw blurRad="76200" dist="25400" dir="5400000" algn="bl" rotWithShape="0">
              <a:srgbClr val="3A4570">
                <a:alpha val="18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9" name="Shape 7"/>
          <p:cNvSpPr/>
          <p:nvPr/>
        </p:nvSpPr>
        <p:spPr>
          <a:xfrm>
            <a:off x="731520" y="333756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0" name="Text 8"/>
          <p:cNvSpPr/>
          <p:nvPr/>
        </p:nvSpPr>
        <p:spPr>
          <a:xfrm>
            <a:off x="731520" y="331927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1520" y="388620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excel-csv-converter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31520" y="443484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README.md — self-contained, start to finish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270248" y="30632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EEF3FD"/>
          </a:solidFill>
          <a:ln/>
          <a:effectLst>
            <a:outerShdw blurRad="76200" dist="25400" dir="5400000" algn="bl" rotWithShape="0">
              <a:srgbClr val="3A4570">
                <a:alpha val="18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14" name="Shape 12"/>
          <p:cNvSpPr/>
          <p:nvPr/>
        </p:nvSpPr>
        <p:spPr>
          <a:xfrm>
            <a:off x="4544568" y="333756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5" name="Text 13"/>
          <p:cNvSpPr/>
          <p:nvPr/>
        </p:nvSpPr>
        <p:spPr>
          <a:xfrm>
            <a:off x="4544568" y="331927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44568" y="388620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normalizer-mapper-agent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544568" y="443484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README.md (primary spec) + REFERENCE_FILES.md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083296" y="30632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EEF3FD"/>
          </a:solidFill>
          <a:ln/>
          <a:effectLst>
            <a:outerShdw blurRad="76200" dist="25400" dir="5400000" algn="bl" rotWithShape="0">
              <a:srgbClr val="3A4570">
                <a:alpha val="18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19" name="Shape 17"/>
          <p:cNvSpPr/>
          <p:nvPr/>
        </p:nvSpPr>
        <p:spPr>
          <a:xfrm>
            <a:off x="8357616" y="333756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20" name="Text 18"/>
          <p:cNvSpPr/>
          <p:nvPr/>
        </p:nvSpPr>
        <p:spPr>
          <a:xfrm>
            <a:off x="8357616" y="331927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357616" y="388620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enrichment-validator-agent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357616" y="443484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BUSINESS_RULES.md first, then README.md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17500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7B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560320"/>
            <a:ext cx="5486400" cy="5486400"/>
          </a:xfrm>
          <a:prstGeom prst="ellipse">
            <a:avLst/>
          </a:prstGeom>
          <a:solidFill>
            <a:srgbClr val="141A3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" name="Shape 1"/>
          <p:cNvSpPr/>
          <p:nvPr/>
        </p:nvSpPr>
        <p:spPr>
          <a:xfrm>
            <a:off x="9875520" y="3840480"/>
            <a:ext cx="5029200" cy="5029200"/>
          </a:xfrm>
          <a:prstGeom prst="ellipse">
            <a:avLst/>
          </a:prstGeom>
          <a:solidFill>
            <a:srgbClr val="141A3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4" name="Text 2"/>
          <p:cNvSpPr/>
          <p:nvPr/>
        </p:nvSpPr>
        <p:spPr>
          <a:xfrm>
            <a:off x="822960" y="24688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822960" y="333756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the full handover document, then the three repositories' own READMEs — every design decision in this pipeline is written down somewhere.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539496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Carlos Gubat IV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1397</Words>
  <Application>Microsoft Office PowerPoint</Application>
  <PresentationFormat>Widescreen</PresentationFormat>
  <Paragraphs>198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Fleet Maintenance Data Pipeline — Handover Overview</dc:title>
  <dc:subject>PptxGenJS Presentation</dc:subject>
  <dc:creator>Carlos Gubat IV</dc:creator>
  <cp:lastModifiedBy>Carlos Gubat IV</cp:lastModifiedBy>
  <cp:revision>2</cp:revision>
  <dcterms:created xsi:type="dcterms:W3CDTF">2026-09-23T09:13:38Z</dcterms:created>
  <dcterms:modified xsi:type="dcterms:W3CDTF">2026-09-23T09:42:20Z</dcterms:modified>
</cp:coreProperties>
</file>